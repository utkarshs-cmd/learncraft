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anose="000005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vYR/KIvDpimQNIGMVabQy8dNp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 Sharma" userId="cacd3895ce015736" providerId="LiveId" clId="{75847050-9FF1-4552-859C-AFEB7BD51900}"/>
    <pc:docChg chg="modSld modShowInfo">
      <pc:chgData name="Utkarsh Sharma" userId="cacd3895ce015736" providerId="LiveId" clId="{75847050-9FF1-4552-859C-AFEB7BD51900}" dt="2026-09-15T06:00:26.053" v="80" actId="20577"/>
      <pc:docMkLst>
        <pc:docMk/>
      </pc:docMkLst>
      <pc:sldChg chg="modSp mod">
        <pc:chgData name="Utkarsh Sharma" userId="cacd3895ce015736" providerId="LiveId" clId="{75847050-9FF1-4552-859C-AFEB7BD51900}" dt="2026-09-15T06:00:06.041" v="14" actId="20577"/>
        <pc:sldMkLst>
          <pc:docMk/>
          <pc:sldMk cId="0" sldId="257"/>
        </pc:sldMkLst>
        <pc:spChg chg="mod">
          <ac:chgData name="Utkarsh Sharma" userId="cacd3895ce015736" providerId="LiveId" clId="{75847050-9FF1-4552-859C-AFEB7BD51900}" dt="2026-09-15T06:00:06.041" v="14" actId="20577"/>
          <ac:spMkLst>
            <pc:docMk/>
            <pc:sldMk cId="0" sldId="257"/>
            <ac:spMk id="105" creationId="{00000000-0000-0000-0000-000000000000}"/>
          </ac:spMkLst>
        </pc:spChg>
      </pc:sldChg>
      <pc:sldChg chg="modSp mod">
        <pc:chgData name="Utkarsh Sharma" userId="cacd3895ce015736" providerId="LiveId" clId="{75847050-9FF1-4552-859C-AFEB7BD51900}" dt="2026-09-15T06:00:26.053" v="80" actId="20577"/>
        <pc:sldMkLst>
          <pc:docMk/>
          <pc:sldMk cId="0" sldId="258"/>
        </pc:sldMkLst>
        <pc:spChg chg="mod">
          <ac:chgData name="Utkarsh Sharma" userId="cacd3895ce015736" providerId="LiveId" clId="{75847050-9FF1-4552-859C-AFEB7BD51900}" dt="2026-09-15T06:00:26.053" v="80" actId="20577"/>
          <ac:spMkLst>
            <pc:docMk/>
            <pc:sldMk cId="0" sldId="258"/>
            <ac:spMk id="1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150" y="368376"/>
            <a:ext cx="953975" cy="9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1524000" y="0"/>
            <a:ext cx="9144000" cy="20057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652250" y="648625"/>
            <a:ext cx="8127900" cy="14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CRAFT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1379550" y="201178"/>
            <a:ext cx="9432900" cy="710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700" b="1" dirty="0">
                <a:solidFill>
                  <a:srgbClr val="0058A0"/>
                </a:solidFill>
                <a:latin typeface="Arial"/>
              </a:rPr>
              <a:t>STATE </a:t>
            </a:r>
            <a:r>
              <a:rPr lang="en-IN" sz="2700" b="1" dirty="0">
                <a:solidFill>
                  <a:srgbClr val="0058A0"/>
                </a:solidFill>
                <a:latin typeface="Arial"/>
              </a:rPr>
              <a:t>LEVEL SMART HAC</a:t>
            </a:r>
            <a:r>
              <a:rPr sz="2700" b="1" dirty="0">
                <a:solidFill>
                  <a:srgbClr val="0058A0"/>
                </a:solidFill>
                <a:latin typeface="Arial"/>
              </a:rPr>
              <a:t>KATHON 2026</a:t>
            </a:r>
            <a:endParaRPr sz="34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00326" y="2725075"/>
            <a:ext cx="5555400" cy="1646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400"/>
              </a:spcAft>
              <a:buNone/>
            </a:pPr>
            <a:r>
              <a:rPr sz="1600" b="1" dirty="0">
                <a:solidFill>
                  <a:srgbClr val="192332"/>
                </a:solidFill>
                <a:latin typeface="Arial"/>
              </a:rPr>
              <a:t>• Problem </a:t>
            </a:r>
            <a:r>
              <a:rPr lang="en-IN" sz="1600" b="1" dirty="0">
                <a:solidFill>
                  <a:srgbClr val="192332"/>
                </a:solidFill>
              </a:rPr>
              <a:t>Theme</a:t>
            </a:r>
            <a:r>
              <a:rPr sz="1600" b="1" dirty="0">
                <a:solidFill>
                  <a:srgbClr val="192332"/>
                </a:solidFill>
                <a:latin typeface="Arial"/>
              </a:rPr>
              <a:t> – </a:t>
            </a:r>
            <a:r>
              <a:rPr lang="en-IN" sz="1800" dirty="0">
                <a:solidFill>
                  <a:srgbClr val="0070C0"/>
                </a:solidFill>
                <a:latin typeface="Arial"/>
              </a:rPr>
              <a:t>Education &amp; Skill Development</a:t>
            </a:r>
            <a:endParaRPr sz="20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92332"/>
                </a:solidFill>
                <a:latin typeface="Arial"/>
              </a:rPr>
              <a:t>• Problem Statement – </a:t>
            </a:r>
            <a:r>
              <a:rPr sz="1600" dirty="0">
                <a:solidFill>
                  <a:srgbClr val="0058A0"/>
                </a:solidFill>
                <a:latin typeface="Arial"/>
              </a:rPr>
              <a:t>Offline-First Educational Computer Lab Management &amp; Learning System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192332"/>
                </a:solidFill>
                <a:latin typeface="Arial"/>
              </a:rPr>
              <a:t>• Team Name – </a:t>
            </a:r>
            <a:r>
              <a:rPr lang="en-IN" sz="1600" b="1" dirty="0">
                <a:solidFill>
                  <a:srgbClr val="0070C0"/>
                </a:solidFill>
                <a:latin typeface="Arial"/>
              </a:rPr>
              <a:t>Quadra X</a:t>
            </a:r>
            <a:endParaRPr sz="1600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93" name="Google Shape;93;p1" descr="A minimalist logo for 'State Level Smart Hackathon 2025'. The logo features a sleek, modern design with a tech-inspired theme. Elements include a lightbulb with a circuit pattern inside, symbolizing innovation and technology. The text 'State Level Smart Hackathon 2025' is placed below in a clean, sans-serif font. The color scheme is blue and black, ensuring a professional look on a white background.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492240" y="2834640"/>
            <a:ext cx="48463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058A0"/>
                </a:solidFill>
                <a:latin typeface="Arial"/>
              </a:rPr>
              <a:t>An offline-first ecosystem connecting
Students • Teachers • Simulations • Lab Activities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023EE-A0BE-A985-B50E-D3EED1309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9387" y="38868"/>
            <a:ext cx="872613" cy="8726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0058A0"/>
                </a:solidFill>
                <a:latin typeface="Arial"/>
              </a:rPr>
              <a:t>LEARNCRAFT — IDEA TITLE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FFFFFF"/>
                </a:solidFill>
                <a:latin typeface="Arial"/>
              </a:rPr>
              <a:t>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@Startup Hackathon  Idea submission- Template</a:t>
            </a:r>
            <a:endParaRPr/>
          </a:p>
        </p:txBody>
      </p:sp>
      <p:sp>
        <p:nvSpPr>
          <p:cNvPr id="104" name="Google Shape;104;p2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Quadra X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85800" y="1097280"/>
            <a:ext cx="107899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0058A0"/>
                </a:solidFill>
                <a:latin typeface="Arial"/>
              </a:rPr>
              <a:t>Learning &amp; Computer Lab Management Platform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94360" y="1828800"/>
            <a:ext cx="35204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600" b="1">
                <a:solidFill>
                  <a:srgbClr val="0058A0"/>
                </a:solidFill>
                <a:latin typeface="Arial"/>
              </a:rPr>
              <a:t>Proposed Solution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Locally managed learning platform for the entire computer lab.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Student interface for practical activities, simulations, coding and assessments.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Teacher dashboard for classroom control and live monitoring.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Works reliably without continuous internet connectivity.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343400" y="1828800"/>
            <a:ext cx="35204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600" b="1">
                <a:solidFill>
                  <a:srgbClr val="287D55"/>
                </a:solidFill>
                <a:latin typeface="Arial"/>
              </a:rPr>
              <a:t>How It Addresses the Problem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Replaces fragmented tools with one unified lab ecosystem.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Provides real-time visibility of student activity and progress.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Keeps learning resources and activities available offline.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Supports teacher-led classroom management over the local network.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092440" y="1828800"/>
            <a:ext cx="35204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600" b="1">
                <a:solidFill>
                  <a:srgbClr val="D27D23"/>
                </a:solidFill>
                <a:latin typeface="Arial"/>
              </a:rPr>
              <a:t>Innovation &amp; Uniqueness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Offline-first by design — not a reduced online version.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Connects learning, monitoring, assessment and simulations in one system.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Sandbox-style practical learning within the lab.</a:t>
            </a:r>
          </a:p>
          <a:p>
            <a:pPr>
              <a:spcAft>
                <a:spcPts val="300"/>
              </a:spcAft>
              <a:defRPr sz="1250">
                <a:solidFill>
                  <a:srgbClr val="192332"/>
                </a:solidFill>
                <a:latin typeface="Arial"/>
              </a:defRPr>
            </a:pPr>
            <a:r>
              <a:t>• Teacher retains control while students learn interactively.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4F7883-45CF-8122-FE40-FE555FEB4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87" y="38868"/>
            <a:ext cx="872613" cy="8726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058A0"/>
                </a:solidFill>
                <a:latin typeface="Arial"/>
              </a:rPr>
              <a:t>TECHNICAL APPROACH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FFFFFF"/>
                </a:solidFill>
                <a:latin typeface="Arial"/>
              </a:rPr>
              <a:t>3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@SLSH Idea submission- Template</a:t>
            </a:r>
            <a:endParaRPr/>
          </a:p>
        </p:txBody>
      </p:sp>
      <p:sp>
        <p:nvSpPr>
          <p:cNvPr id="114" name="Google Shape;114;p3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IN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Quadra </a:t>
            </a:r>
          </a:p>
          <a:p>
            <a:pPr algn="ctr"/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dirty="0">
                <a:solidFill>
                  <a:srgbClr val="FFFFFF"/>
                </a:solidFill>
                <a:latin typeface="Arial"/>
              </a:rPr>
              <a:t>raft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@Startup Hackathon  Idea submission- Template</a:t>
            </a:r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594360" y="1097280"/>
            <a:ext cx="32461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500" b="1">
                <a:solidFill>
                  <a:srgbClr val="0058A0"/>
                </a:solidFill>
                <a:latin typeface="Arial"/>
              </a:rPr>
              <a:t>Technologies to be Used</a:t>
            </a:r>
          </a:p>
          <a:p>
            <a:pPr>
              <a:spcAft>
                <a:spcPts val="300"/>
              </a:spcAft>
              <a:defRPr sz="1120">
                <a:solidFill>
                  <a:srgbClr val="192332"/>
                </a:solidFill>
                <a:latin typeface="Arial"/>
              </a:defRPr>
            </a:pPr>
            <a:r>
              <a:t>• Frontend: HTML5, CSS3, JavaScript / React</a:t>
            </a:r>
          </a:p>
          <a:p>
            <a:pPr>
              <a:spcAft>
                <a:spcPts val="300"/>
              </a:spcAft>
              <a:defRPr sz="1120">
                <a:solidFill>
                  <a:srgbClr val="192332"/>
                </a:solidFill>
                <a:latin typeface="Arial"/>
              </a:defRPr>
            </a:pPr>
            <a:r>
              <a:t>• Backend: Node.js + REST/WebSocket services</a:t>
            </a:r>
          </a:p>
          <a:p>
            <a:pPr>
              <a:spcAft>
                <a:spcPts val="300"/>
              </a:spcAft>
              <a:defRPr sz="1120">
                <a:solidFill>
                  <a:srgbClr val="192332"/>
                </a:solidFill>
                <a:latin typeface="Arial"/>
              </a:defRPr>
            </a:pPr>
            <a:r>
              <a:t>• Data: Local database / IndexedDB for offline storage</a:t>
            </a:r>
          </a:p>
          <a:p>
            <a:pPr>
              <a:spcAft>
                <a:spcPts val="300"/>
              </a:spcAft>
              <a:defRPr sz="1120">
                <a:solidFill>
                  <a:srgbClr val="192332"/>
                </a:solidFill>
                <a:latin typeface="Arial"/>
              </a:defRPr>
            </a:pPr>
            <a:r>
              <a:t>• Network: Local LAN classroom communication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94360" y="3337560"/>
            <a:ext cx="324612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500" b="1" dirty="0">
                <a:solidFill>
                  <a:srgbClr val="287D55"/>
                </a:solidFill>
                <a:latin typeface="Arial"/>
              </a:rPr>
              <a:t>Core Technical Principles</a:t>
            </a:r>
          </a:p>
          <a:p>
            <a:pPr>
              <a:spcAft>
                <a:spcPts val="300"/>
              </a:spcAft>
              <a:defRPr sz="1120">
                <a:solidFill>
                  <a:srgbClr val="192332"/>
                </a:solidFill>
                <a:latin typeface="Arial"/>
              </a:defRPr>
            </a:pPr>
            <a:r>
              <a:rPr dirty="0"/>
              <a:t>• </a:t>
            </a:r>
            <a:r>
              <a:rPr lang="en-IN" dirty="0"/>
              <a:t>Learning &amp; Lab Monitoring </a:t>
            </a:r>
            <a:endParaRPr dirty="0"/>
          </a:p>
          <a:p>
            <a:pPr>
              <a:spcAft>
                <a:spcPts val="300"/>
              </a:spcAft>
              <a:defRPr sz="1120">
                <a:solidFill>
                  <a:srgbClr val="192332"/>
                </a:solidFill>
                <a:latin typeface="Arial"/>
              </a:defRPr>
            </a:pPr>
            <a:r>
              <a:rPr dirty="0"/>
              <a:t>• Local synchronization &amp; caching</a:t>
            </a:r>
          </a:p>
          <a:p>
            <a:pPr>
              <a:spcAft>
                <a:spcPts val="300"/>
              </a:spcAft>
              <a:defRPr sz="1120">
                <a:solidFill>
                  <a:srgbClr val="192332"/>
                </a:solidFill>
                <a:latin typeface="Arial"/>
              </a:defRPr>
            </a:pPr>
            <a:r>
              <a:rPr dirty="0"/>
              <a:t>• Role-based student/teacher access</a:t>
            </a:r>
          </a:p>
          <a:p>
            <a:pPr>
              <a:spcAft>
                <a:spcPts val="300"/>
              </a:spcAft>
              <a:defRPr sz="1120">
                <a:solidFill>
                  <a:srgbClr val="192332"/>
                </a:solidFill>
                <a:latin typeface="Arial"/>
              </a:defRPr>
            </a:pPr>
            <a:r>
              <a:rPr dirty="0"/>
              <a:t>• Modular simulation and activity integration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51960" y="1600200"/>
            <a:ext cx="1417320" cy="1051560"/>
          </a:xfrm>
          <a:prstGeom prst="roundRect">
            <a:avLst/>
          </a:prstGeom>
          <a:solidFill>
            <a:srgbClr val="EBF3FA"/>
          </a:solidFill>
          <a:ln w="1651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58A0"/>
                </a:solidFill>
                <a:latin typeface="Arial"/>
              </a:rPr>
              <a:t>Teacher</a:t>
            </a:r>
          </a:p>
          <a:p>
            <a:pPr algn="ctr"/>
            <a:r>
              <a:rPr sz="900">
                <a:solidFill>
                  <a:srgbClr val="192332"/>
                </a:solidFill>
                <a:latin typeface="Arial"/>
              </a:rPr>
              <a:t>Creates class &amp; activities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5669280" y="1965960"/>
            <a:ext cx="274320" cy="274320"/>
          </a:xfrm>
          <a:prstGeom prst="rightArrow">
            <a:avLst/>
          </a:prstGeom>
          <a:solidFill>
            <a:srgbClr val="0058A0"/>
          </a:solidFill>
          <a:ln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5989320" y="1600200"/>
            <a:ext cx="1417320" cy="1051560"/>
          </a:xfrm>
          <a:prstGeom prst="roundRect">
            <a:avLst/>
          </a:prstGeom>
          <a:solidFill>
            <a:srgbClr val="EBF3FA"/>
          </a:solidFill>
          <a:ln w="1651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58A0"/>
                </a:solidFill>
                <a:latin typeface="Arial"/>
              </a:rPr>
              <a:t>Local Lab Server</a:t>
            </a:r>
          </a:p>
          <a:p>
            <a:pPr algn="ctr"/>
            <a:r>
              <a:rPr sz="900">
                <a:solidFill>
                  <a:srgbClr val="192332"/>
                </a:solidFill>
                <a:latin typeface="Arial"/>
              </a:rPr>
              <a:t>Hosts platform &amp; data</a:t>
            </a:r>
          </a:p>
        </p:txBody>
      </p:sp>
      <p:sp>
        <p:nvSpPr>
          <p:cNvPr id="123" name="Right Arrow 122"/>
          <p:cNvSpPr/>
          <p:nvPr/>
        </p:nvSpPr>
        <p:spPr>
          <a:xfrm>
            <a:off x="7406640" y="1965960"/>
            <a:ext cx="274320" cy="274320"/>
          </a:xfrm>
          <a:prstGeom prst="rightArrow">
            <a:avLst/>
          </a:prstGeom>
          <a:solidFill>
            <a:srgbClr val="0058A0"/>
          </a:solidFill>
          <a:ln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7726679" y="1600200"/>
            <a:ext cx="1417320" cy="1051560"/>
          </a:xfrm>
          <a:prstGeom prst="roundRect">
            <a:avLst/>
          </a:prstGeom>
          <a:solidFill>
            <a:srgbClr val="EBF3FA"/>
          </a:solidFill>
          <a:ln w="1651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58A0"/>
                </a:solidFill>
                <a:latin typeface="Arial"/>
              </a:rPr>
              <a:t>Students</a:t>
            </a:r>
          </a:p>
          <a:p>
            <a:pPr algn="ctr"/>
            <a:r>
              <a:rPr sz="900">
                <a:solidFill>
                  <a:srgbClr val="192332"/>
                </a:solidFill>
                <a:latin typeface="Arial"/>
              </a:rPr>
              <a:t>Learn, code &amp; simulate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9144000" y="1965960"/>
            <a:ext cx="274320" cy="274320"/>
          </a:xfrm>
          <a:prstGeom prst="rightArrow">
            <a:avLst/>
          </a:prstGeom>
          <a:solidFill>
            <a:srgbClr val="0058A0"/>
          </a:solidFill>
          <a:ln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9464040" y="1600200"/>
            <a:ext cx="1417320" cy="1051560"/>
          </a:xfrm>
          <a:prstGeom prst="roundRect">
            <a:avLst/>
          </a:prstGeom>
          <a:solidFill>
            <a:srgbClr val="EBF3FA"/>
          </a:solidFill>
          <a:ln w="16510">
            <a:solidFill>
              <a:srgbClr val="28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287D55"/>
                </a:solidFill>
                <a:latin typeface="Arial"/>
              </a:rPr>
              <a:t>Live Monitor</a:t>
            </a:r>
          </a:p>
          <a:p>
            <a:pPr algn="ctr"/>
            <a:r>
              <a:rPr sz="900">
                <a:solidFill>
                  <a:srgbClr val="192332"/>
                </a:solidFill>
                <a:latin typeface="Arial"/>
              </a:rPr>
              <a:t>Progress &amp; assessment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51960" y="3474720"/>
            <a:ext cx="1417320" cy="1051560"/>
          </a:xfrm>
          <a:prstGeom prst="roundRect">
            <a:avLst/>
          </a:prstGeom>
          <a:solidFill>
            <a:srgbClr val="EBF3FA"/>
          </a:solidFill>
          <a:ln w="16510">
            <a:solidFill>
              <a:srgbClr val="28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287D55"/>
                </a:solidFill>
                <a:latin typeface="Arial"/>
              </a:rPr>
              <a:t>Cache</a:t>
            </a:r>
          </a:p>
          <a:p>
            <a:pPr algn="ctr"/>
            <a:r>
              <a:rPr sz="900">
                <a:solidFill>
                  <a:srgbClr val="192332"/>
                </a:solidFill>
                <a:latin typeface="Arial"/>
              </a:rPr>
              <a:t>Activities stored locally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5669280" y="3840480"/>
            <a:ext cx="274320" cy="274320"/>
          </a:xfrm>
          <a:prstGeom prst="rightArrow">
            <a:avLst/>
          </a:prstGeom>
          <a:solidFill>
            <a:srgbClr val="0058A0"/>
          </a:solidFill>
          <a:ln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5989320" y="3474720"/>
            <a:ext cx="1417320" cy="1051560"/>
          </a:xfrm>
          <a:prstGeom prst="roundRect">
            <a:avLst/>
          </a:prstGeom>
          <a:solidFill>
            <a:srgbClr val="EBF3FA"/>
          </a:solidFill>
          <a:ln w="1651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58A0"/>
                </a:solidFill>
                <a:latin typeface="Arial"/>
              </a:rPr>
              <a:t>Engage</a:t>
            </a:r>
          </a:p>
          <a:p>
            <a:pPr algn="ctr"/>
            <a:r>
              <a:rPr sz="900">
                <a:solidFill>
                  <a:srgbClr val="192332"/>
                </a:solidFill>
                <a:latin typeface="Arial"/>
              </a:rPr>
              <a:t>Student performs task</a:t>
            </a:r>
          </a:p>
        </p:txBody>
      </p:sp>
      <p:sp>
        <p:nvSpPr>
          <p:cNvPr id="131" name="Right Arrow 130"/>
          <p:cNvSpPr/>
          <p:nvPr/>
        </p:nvSpPr>
        <p:spPr>
          <a:xfrm>
            <a:off x="7406640" y="3840480"/>
            <a:ext cx="274320" cy="274320"/>
          </a:xfrm>
          <a:prstGeom prst="rightArrow">
            <a:avLst/>
          </a:prstGeom>
          <a:solidFill>
            <a:srgbClr val="0058A0"/>
          </a:solidFill>
          <a:ln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7726679" y="3474720"/>
            <a:ext cx="1417320" cy="1051560"/>
          </a:xfrm>
          <a:prstGeom prst="roundRect">
            <a:avLst/>
          </a:prstGeom>
          <a:solidFill>
            <a:srgbClr val="EBF3FA"/>
          </a:solidFill>
          <a:ln w="1651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0058A0"/>
                </a:solidFill>
                <a:latin typeface="Arial"/>
              </a:rPr>
              <a:t>Sync</a:t>
            </a:r>
          </a:p>
          <a:p>
            <a:pPr algn="ctr"/>
            <a:r>
              <a:rPr sz="900">
                <a:solidFill>
                  <a:srgbClr val="192332"/>
                </a:solidFill>
                <a:latin typeface="Arial"/>
              </a:rPr>
              <a:t>Updates over LAN</a:t>
            </a:r>
          </a:p>
        </p:txBody>
      </p:sp>
      <p:sp>
        <p:nvSpPr>
          <p:cNvPr id="133" name="Right Arrow 132"/>
          <p:cNvSpPr/>
          <p:nvPr/>
        </p:nvSpPr>
        <p:spPr>
          <a:xfrm>
            <a:off x="9144000" y="3840480"/>
            <a:ext cx="274320" cy="274320"/>
          </a:xfrm>
          <a:prstGeom prst="rightArrow">
            <a:avLst/>
          </a:prstGeom>
          <a:solidFill>
            <a:srgbClr val="0058A0"/>
          </a:solidFill>
          <a:ln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9464040" y="3474720"/>
            <a:ext cx="1417320" cy="1051560"/>
          </a:xfrm>
          <a:prstGeom prst="roundRect">
            <a:avLst/>
          </a:prstGeom>
          <a:solidFill>
            <a:srgbClr val="EBF3FA"/>
          </a:solidFill>
          <a:ln w="16510">
            <a:solidFill>
              <a:srgbClr val="28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287D55"/>
                </a:solidFill>
                <a:latin typeface="Arial"/>
              </a:rPr>
              <a:t>Analyse</a:t>
            </a:r>
          </a:p>
          <a:p>
            <a:pPr algn="ctr"/>
            <a:r>
              <a:rPr sz="900">
                <a:solidFill>
                  <a:srgbClr val="192332"/>
                </a:solidFill>
                <a:latin typeface="Arial"/>
              </a:rPr>
              <a:t>Teacher sees progress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297680" y="4892040"/>
            <a:ext cx="6492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58A0"/>
                </a:solidFill>
                <a:latin typeface="Arial"/>
              </a:rPr>
              <a:t>Result: dependable practical learning continues even when Internet access is unavailable.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637E1-321A-2549-523C-4D1B764EF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87" y="38868"/>
            <a:ext cx="872613" cy="8726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0058A0"/>
                </a:solidFill>
                <a:latin typeface="Arial"/>
              </a:rPr>
              <a:t>FEASIBILITY AND VIABILITY</a:t>
            </a:r>
            <a:endParaRPr/>
          </a:p>
        </p:txBody>
      </p:sp>
      <p:sp>
        <p:nvSpPr>
          <p:cNvPr id="124" name="Google Shape;124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1000" b="0">
                <a:solidFill>
                  <a:srgbClr val="FFFFFF"/>
                </a:solidFill>
                <a:latin typeface="Arial"/>
              </a:rPr>
              <a:t>4</a:t>
            </a:r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@SLSH Idea submission- Template</a:t>
            </a:r>
            <a:endParaRPr/>
          </a:p>
        </p:txBody>
      </p:sp>
      <p:sp>
        <p:nvSpPr>
          <p:cNvPr id="126" name="Google Shape;126;p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IN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Quadra X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FFFFFF"/>
                </a:solidFill>
                <a:latin typeface="Arial"/>
              </a:rPr>
              <a:t>t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FFFFFF"/>
                </a:solidFill>
                <a:latin typeface="Arial"/>
              </a:rPr>
              <a:t>4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@SLSH Idea submission- Template</a:t>
            </a: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@Startup Hackathon  Idea submission- Template</a:t>
            </a:r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594360" y="1234440"/>
            <a:ext cx="342900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600" b="1">
                <a:solidFill>
                  <a:srgbClr val="0058A0"/>
                </a:solidFill>
                <a:latin typeface="Arial"/>
              </a:rPr>
              <a:t>Analysis of Feasibility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Runs on existing computer-lab PCs with a local server.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Browser-based access reduces installation complexity.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Offline storage reduces dependency on external connectivity.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Modular architecture allows subjects and simulations to be added progressively.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251960" y="1234440"/>
            <a:ext cx="342900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600" b="1">
                <a:solidFill>
                  <a:srgbClr val="D27D23"/>
                </a:solidFill>
                <a:latin typeface="Arial"/>
              </a:rPr>
              <a:t>Potential Challenges &amp; Risks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Different hardware and browser configurations.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LAN/server setup and device discovery.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Large simulation or media assets may require storage.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Maintaining data consistency across student devices.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909560" y="1234440"/>
            <a:ext cx="342900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600" b="1">
                <a:solidFill>
                  <a:srgbClr val="287D55"/>
                </a:solidFill>
                <a:latin typeface="Arial"/>
              </a:rPr>
              <a:t>Strategies to Overcome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Use lightweight, standards-based web technologies.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Provide a simple local deployment package.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Cache essential resources before lab sessions.</a:t>
            </a:r>
          </a:p>
          <a:p>
            <a:pPr>
              <a:spcAft>
                <a:spcPts val="300"/>
              </a:spcAft>
              <a:defRPr sz="1200">
                <a:solidFill>
                  <a:srgbClr val="192332"/>
                </a:solidFill>
                <a:latin typeface="Arial"/>
              </a:defRPr>
            </a:pPr>
            <a:r>
              <a:t>• Use controlled sync, validation and teacher-side backups.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5A82F-50BA-C020-03E1-AB14ED632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87" y="38868"/>
            <a:ext cx="872613" cy="8726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058A0"/>
                </a:solidFill>
                <a:latin typeface="Arial"/>
              </a:rPr>
              <a:t>IMPACT AND BENEFITS</a:t>
            </a:r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1000" b="0">
                <a:solidFill>
                  <a:srgbClr val="FFFFFF"/>
                </a:solidFill>
                <a:latin typeface="Arial"/>
              </a:rPr>
              <a:t>5</a:t>
            </a:r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</a:t>
            </a:r>
            <a:r>
              <a:rPr lang="en-US">
                <a:solidFill>
                  <a:srgbClr val="FFFFFF"/>
                </a:solidFill>
              </a:rPr>
              <a:t>LS</a:t>
            </a: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H Idea submission- Template</a:t>
            </a:r>
            <a:endParaRPr/>
          </a:p>
        </p:txBody>
      </p:sp>
      <p:sp>
        <p:nvSpPr>
          <p:cNvPr id="140" name="Google Shape;140;p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Arial"/>
              </a:rPr>
              <a:t>LearnCraf</a:t>
            </a:r>
            <a:endParaRPr lang="en-IN" sz="1100" b="1" dirty="0">
              <a:solidFill>
                <a:srgbClr val="FFFFFF"/>
              </a:solidFill>
              <a:latin typeface="Arial"/>
            </a:endParaRPr>
          </a:p>
          <a:p>
            <a:pPr algn="ctr"/>
            <a:endParaRPr lang="en-IN" sz="1100" b="1" dirty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  <a:p>
            <a:pPr algn="ctr"/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Quadra X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FFFFFF"/>
                </a:solidFill>
                <a:latin typeface="Arial"/>
              </a:rPr>
              <a:t>5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2" name="Google Shape;142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@SLSH Idea submission- Template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@Startup Hackathon  Idea submission- Template</a:t>
            </a:r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594360" y="1234440"/>
            <a:ext cx="530352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700" b="1">
                <a:solidFill>
                  <a:srgbClr val="0058A0"/>
                </a:solidFill>
                <a:latin typeface="Arial"/>
              </a:rPr>
              <a:t>Potential Impact on Target Audience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Students: more practical, interactive and self-paced lab learning.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Teachers: real-time visibility into activities, progress and assessments.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Institutions: a unified system for managing computer-lab learning.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Low-connectivity labs: dependable access to digital learning.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172200" y="1234440"/>
            <a:ext cx="521208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700" b="1">
                <a:solidFill>
                  <a:srgbClr val="287D55"/>
                </a:solidFill>
                <a:latin typeface="Arial"/>
              </a:rPr>
              <a:t>Benefits of the Solution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Social: improves access to quality digital and practical education.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Economic: reduces dependence on multiple paid/online classroom tools.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Operational: centralises monitoring, activities and assessment.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Educational: turns lab time into measurable hands-on learning.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058A0"/>
                </a:solidFill>
                <a:latin typeface="Arial"/>
              </a:rPr>
              <a:t>ONE LAB  •  ONE PLATFORM  •  CONNECTED LEARNING  •  OFFLINE READY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80F9D4-7334-BA9B-A58F-20A5FE24C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87" y="38868"/>
            <a:ext cx="872613" cy="8726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0058A0"/>
                </a:solidFill>
                <a:latin typeface="Arial"/>
              </a:rPr>
              <a:t>RESEARCH AND REFERENCES</a:t>
            </a:r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sz="1000" b="0">
                <a:solidFill>
                  <a:srgbClr val="FFFFFF"/>
                </a:solidFill>
                <a:latin typeface="Arial"/>
              </a:rPr>
              <a:t>6</a:t>
            </a:r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@SLSH Idea submission- Template</a:t>
            </a:r>
            <a:endParaRPr/>
          </a:p>
        </p:txBody>
      </p:sp>
      <p:sp>
        <p:nvSpPr>
          <p:cNvPr id="154" name="Google Shape;154;p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Arial"/>
              </a:rPr>
              <a:t>LearnCraf</a:t>
            </a:r>
            <a:endParaRPr lang="en-IN" sz="1100" b="1" dirty="0">
              <a:solidFill>
                <a:srgbClr val="FFFFFF"/>
              </a:solidFill>
              <a:latin typeface="Arial"/>
            </a:endParaRPr>
          </a:p>
          <a:p>
            <a:pPr algn="ctr"/>
            <a:endParaRPr lang="en-IN" sz="1100" b="1" dirty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  <a:p>
            <a:pPr algn="ctr"/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Quadra X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FFFFFF"/>
                </a:solidFill>
                <a:latin typeface="Arial"/>
              </a:rPr>
              <a:t>6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6" name="Google Shape;156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@SLSH Idea submission- Template</a:t>
            </a:r>
            <a:endParaRPr/>
          </a:p>
        </p:txBody>
      </p:sp>
      <p:sp>
        <p:nvSpPr>
          <p:cNvPr id="158" name="Google Shape;158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@Startup Hackathon  Idea submission- Template</a:t>
            </a:r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640080" y="1234440"/>
            <a:ext cx="52120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700" b="1">
                <a:solidFill>
                  <a:srgbClr val="0058A0"/>
                </a:solidFill>
                <a:latin typeface="Arial"/>
              </a:rPr>
              <a:t>Reference &amp; Research Areas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Offline-first web application architecture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Local-network / LAN classroom systems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Browser-based coding and practical learning environments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Interactive simulation and virtual-lab approaches</a:t>
            </a:r>
          </a:p>
          <a:p>
            <a:pPr>
              <a:spcAft>
                <a:spcPts val="300"/>
              </a:spcAft>
              <a:defRPr sz="1280">
                <a:solidFill>
                  <a:srgbClr val="192332"/>
                </a:solidFill>
                <a:latin typeface="Arial"/>
              </a:defRPr>
            </a:pPr>
            <a:r>
              <a:t>• Teacher dashboards, progress tracking and digital assessment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26480" y="1234440"/>
            <a:ext cx="52120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09728" bIns="73152" rtlCol="0" anchor="ctr"/>
          <a:lstStyle/>
          <a:p>
            <a:pPr algn="ctr"/>
            <a:r>
              <a:rPr sz="1700" b="1">
                <a:solidFill>
                  <a:srgbClr val="287D55"/>
                </a:solidFill>
                <a:latin typeface="Arial"/>
              </a:rPr>
              <a:t>Reference Platforms / Technologies</a:t>
            </a:r>
          </a:p>
          <a:p>
            <a:pPr>
              <a:spcAft>
                <a:spcPts val="300"/>
              </a:spcAft>
              <a:defRPr sz="1220">
                <a:solidFill>
                  <a:srgbClr val="192332"/>
                </a:solidFill>
                <a:latin typeface="Arial"/>
              </a:defRPr>
            </a:pPr>
            <a:r>
              <a:t>• PhET Interactive Simulations — interactive subject simulation model</a:t>
            </a:r>
          </a:p>
          <a:p>
            <a:pPr>
              <a:spcAft>
                <a:spcPts val="300"/>
              </a:spcAft>
              <a:defRPr sz="1220">
                <a:solidFill>
                  <a:srgbClr val="192332"/>
                </a:solidFill>
                <a:latin typeface="Arial"/>
              </a:defRPr>
            </a:pPr>
            <a:r>
              <a:t>• CodeCombat — game-like coding practice model</a:t>
            </a:r>
          </a:p>
          <a:p>
            <a:pPr>
              <a:spcAft>
                <a:spcPts val="300"/>
              </a:spcAft>
              <a:defRPr sz="1220">
                <a:solidFill>
                  <a:srgbClr val="192332"/>
                </a:solidFill>
                <a:latin typeface="Arial"/>
              </a:defRPr>
            </a:pPr>
            <a:r>
              <a:t>• HTML5 / JavaScript — browser-based interactive delivery</a:t>
            </a:r>
          </a:p>
          <a:p>
            <a:pPr>
              <a:spcAft>
                <a:spcPts val="300"/>
              </a:spcAft>
              <a:defRPr sz="1220">
                <a:solidFill>
                  <a:srgbClr val="192332"/>
                </a:solidFill>
                <a:latin typeface="Arial"/>
              </a:defRPr>
            </a:pPr>
            <a:r>
              <a:t>• IndexedDB / Service Worker concepts — offline storage and caching</a:t>
            </a:r>
          </a:p>
          <a:p>
            <a:pPr>
              <a:spcAft>
                <a:spcPts val="300"/>
              </a:spcAft>
              <a:defRPr sz="1220">
                <a:solidFill>
                  <a:srgbClr val="192332"/>
                </a:solidFill>
                <a:latin typeface="Arial"/>
              </a:defRPr>
            </a:pPr>
            <a:r>
              <a:t>• Local LAN + WebSocket concepts — real-time classroom communication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58A0"/>
                </a:solidFill>
                <a:latin typeface="Arial"/>
              </a:rPr>
              <a:t>LearnCraft combines proven concepts into a single locally managed educational ecosystem.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D0690-B41C-FC1F-48B9-BA0955287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87" y="38868"/>
            <a:ext cx="872613" cy="872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737</Words>
  <Application>Microsoft Office PowerPoint</Application>
  <PresentationFormat>Widescreen</PresentationFormat>
  <Paragraphs>132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Arial</vt:lpstr>
      <vt:lpstr>Garamond</vt:lpstr>
      <vt:lpstr>Times New Roman</vt:lpstr>
      <vt:lpstr>Oswald</vt:lpstr>
      <vt:lpstr>Office Theme</vt:lpstr>
      <vt:lpstr>STATE LEVEL SMART HACKATHON 2026</vt:lpstr>
      <vt:lpstr>LEARNCRAFT — 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Utkarsh Sharma</cp:lastModifiedBy>
  <cp:revision>4</cp:revision>
  <dcterms:created xsi:type="dcterms:W3CDTF">2013-12-12T18:46:50Z</dcterms:created>
  <dcterms:modified xsi:type="dcterms:W3CDTF">2026-09-15T06:00:30Z</dcterms:modified>
</cp:coreProperties>
</file>